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Compliant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A.5 Organisational</c:v>
                </c:pt>
                <c:pt idx="1">
                  <c:v>A.6 People</c:v>
                </c:pt>
                <c:pt idx="2">
                  <c:v>A.7 Physical</c:v>
                </c:pt>
                <c:pt idx="3">
                  <c:v>A.8 Technological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4</c:v>
                </c:pt>
                <c:pt idx="2">
                  <c:v>8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26-4AB8-87CE-9260CCD7DC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Non-Compliant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A.5 Organisational</c:v>
                </c:pt>
                <c:pt idx="1">
                  <c:v>A.6 People</c:v>
                </c:pt>
                <c:pt idx="2">
                  <c:v>A.7 Physical</c:v>
                </c:pt>
                <c:pt idx="3">
                  <c:v>A.8 Technological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</c:v>
                </c:pt>
                <c:pt idx="1">
                  <c:v>2</c:v>
                </c:pt>
                <c:pt idx="2">
                  <c:v>1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26-4AB8-87CE-9260CCD7DCE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Partial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A.5 Organisational</c:v>
                </c:pt>
                <c:pt idx="1">
                  <c:v>A.6 People</c:v>
                </c:pt>
                <c:pt idx="2">
                  <c:v>A.7 Physical</c:v>
                </c:pt>
                <c:pt idx="3">
                  <c:v>A.8 Technological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</c:v>
                </c:pt>
                <c:pt idx="1">
                  <c:v>2</c:v>
                </c:pt>
                <c:pt idx="2">
                  <c:v>5</c:v>
                </c:pt>
                <c:pt idx="3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26-4AB8-87CE-9260CCD7DC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D51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2C3E5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4FE-43F9-869C-6D37A8BCCB4F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4FE-43F9-869C-6D37A8BCCB4F}"/>
              </c:ext>
            </c:extLst>
          </c:dPt>
          <c:dPt>
            <c:idx val="2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4FE-43F9-869C-6D37A8BCCB4F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54FE-43F9-869C-6D37A8BCCB4F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54FE-43F9-869C-6D37A8BCCB4F}"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54FE-43F9-869C-6D37A8BCCB4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Compliant (24)</c:v>
                </c:pt>
                <c:pt idx="1">
                  <c:v>Non-Compliant (25)</c:v>
                </c:pt>
                <c:pt idx="2">
                  <c:v>Partial (44)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25</c:v>
                </c:pt>
                <c:pt idx="2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FE-43F9-869C-6D37A8BCCB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607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5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CYROPAY LTD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Briefing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3246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27001:2022 Gap Assessment — Board Presentation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3703320"/>
            <a:ext cx="3200400" cy="274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</a:t>
            </a:r>
            <a:r>
              <a:rPr lang="en-US" sz="1100" dirty="0" smtClean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Oluwagbemiga </a:t>
            </a: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Ibijura  ·  MSc Cybersecurity  ·  GRC Analyst  ·  May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2320" y="3749040"/>
            <a:ext cx="1828800" cy="3657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502920" cy="475488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9601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CyroPay — Context &amp; Regulatory Obligations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08760"/>
            <a:ext cx="502920" cy="475488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087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50876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Methodology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822960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57400"/>
            <a:ext cx="502920" cy="475488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574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05740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Scorecard &amp; Results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06040"/>
            <a:ext cx="502920" cy="475488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060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6060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— Top 10 Findings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822960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54680"/>
            <a:ext cx="502920" cy="475488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546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15468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Risk Summary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03320"/>
            <a:ext cx="502920" cy="475488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033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70332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Status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822960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251960"/>
            <a:ext cx="502920" cy="475488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519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51560" y="425196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to the Board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CYROPAY — ORGANISATIONAL CONTEXT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1005840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138988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CyroPay Ltd — UK-based digital payment fintech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94560"/>
            <a:ext cx="502920" cy="1005840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945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STATUS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257860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FCA-authorised Payment Institution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383280"/>
            <a:ext cx="502920" cy="1005840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83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474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BUSINESS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376732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 platform for SME merchants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05840"/>
            <a:ext cx="502920" cy="1005840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0058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49240" y="138988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(eu-west-2), Microsoft 365, Stripe, Salesforce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19456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194560"/>
            <a:ext cx="502920" cy="1005840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1945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49240" y="257860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staff — London office + full remote working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383280"/>
            <a:ext cx="4206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383280"/>
            <a:ext cx="502920" cy="1005840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383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474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49240" y="376732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SYSC · UK GDPR · PCI DSS Level 1 · DORA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METHODOLOGY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57200" cy="7132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033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28930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ISMS scope covering CyroPay's payment platform, AWS cloud infrastructure, customer and merchant data, London office, and remote working environment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64792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64792"/>
            <a:ext cx="457200" cy="7132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6479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18379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09397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ISO/IEC 27001:2022 Annex A requirements across all 93 controls using CISO Assistant — an enterprise GRC platform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69464"/>
            <a:ext cx="841248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69464"/>
            <a:ext cx="457200" cy="7132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6946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26426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289864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control assessed using a 4-point scale: Compliant / Partially Compliant / Non-Compliant / Not Applicable. Comment and observation recorded for every control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74136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74136"/>
            <a:ext cx="457200" cy="7132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74136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34472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370332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identified from gaps and scored using Likelihood × Impact (1-5 scale). Risk ratings: Critical (15-25) · High (10-14) · Medium (5-9) · Low (1-4)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78808"/>
            <a:ext cx="841248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178808"/>
            <a:ext cx="457200" cy="7132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17880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4251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" y="450799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consolidated into executive dashboard, CISO briefing, and this board presentation with prioritised remediation roadmap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27001:2022 Annex A — 93 Controls Assessed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572768" cy="23774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2588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84832" y="1143000"/>
            <a:ext cx="1572768" cy="2377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84832" y="132588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084832" y="237744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03904" y="1143000"/>
            <a:ext cx="1572768" cy="2377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03904" y="132588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803904" y="237744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22976" y="1143000"/>
            <a:ext cx="1572768" cy="2377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22976" y="132588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522976" y="237744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42048" y="1143000"/>
            <a:ext cx="1572768" cy="23774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42048" y="132588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25.8%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242048" y="237744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365760" y="3657600"/>
          <a:ext cx="841248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BY CONTROL CATEGORY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4937760" cy="312724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Compliant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A.5 — Organisational (37)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A.6 — People (8)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A.7 — Physical (14)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A.8 — Technological (34)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(93)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BC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5577840" y="914400"/>
          <a:ext cx="33832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INFORMATION SECURITY RISKS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7040880" cy="4224528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privileged access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vulnerability scanning or patch management SLA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 not enforced across all 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supplier security assessments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production data in test environments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formal incident response 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data classification scheme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security awareness training programme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Unencrypted remote working laptops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formal change management 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HEAT MAP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 rot="16200000">
            <a:off x="91440" y="1371600"/>
            <a:ext cx="822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 ↑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4526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→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640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0" y="640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0" y="640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37760" y="640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0" y="640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00584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1005840"/>
            <a:ext cx="1280160" cy="731520"/>
          </a:xfrm>
          <a:prstGeom prst="rect">
            <a:avLst/>
          </a:prstGeom>
          <a:solidFill>
            <a:srgbClr val="F1C4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1005840"/>
            <a:ext cx="1280160" cy="731520"/>
          </a:xfrm>
          <a:prstGeom prst="rect">
            <a:avLst/>
          </a:prstGeom>
          <a:solidFill>
            <a:srgbClr val="E67E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1005840"/>
            <a:ext cx="1280160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005840"/>
            <a:ext cx="1280160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005840"/>
            <a:ext cx="1280160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173736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1737360"/>
            <a:ext cx="12801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0" y="1737360"/>
            <a:ext cx="1280160" cy="731520"/>
          </a:xfrm>
          <a:prstGeom prst="rect">
            <a:avLst/>
          </a:prstGeom>
          <a:solidFill>
            <a:srgbClr val="F1C4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1737360"/>
            <a:ext cx="1280160" cy="731520"/>
          </a:xfrm>
          <a:prstGeom prst="rect">
            <a:avLst/>
          </a:prstGeom>
          <a:solidFill>
            <a:srgbClr val="E67E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17373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R008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37760" y="1737360"/>
            <a:ext cx="1280160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7373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R002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R007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1737360"/>
            <a:ext cx="1280160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7373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R001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" y="24688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97280" y="2468880"/>
            <a:ext cx="12801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2468880"/>
            <a:ext cx="1280160" cy="731520"/>
          </a:xfrm>
          <a:prstGeom prst="rect">
            <a:avLst/>
          </a:prstGeom>
          <a:solidFill>
            <a:srgbClr val="F1C4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0" y="2468880"/>
            <a:ext cx="1280160" cy="731520"/>
          </a:xfrm>
          <a:prstGeom prst="rect">
            <a:avLst/>
          </a:prstGeom>
          <a:solidFill>
            <a:srgbClr val="F1C4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0" y="2468880"/>
            <a:ext cx="1280160" cy="731520"/>
          </a:xfrm>
          <a:prstGeom prst="rect">
            <a:avLst/>
          </a:prstGeom>
          <a:solidFill>
            <a:srgbClr val="E67E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46888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R006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R009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R010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2468880"/>
            <a:ext cx="1280160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46888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R003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R004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800" y="320040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97280" y="3200400"/>
            <a:ext cx="12801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3200400"/>
            <a:ext cx="12801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0" y="3200400"/>
            <a:ext cx="1280160" cy="731520"/>
          </a:xfrm>
          <a:prstGeom prst="rect">
            <a:avLst/>
          </a:prstGeom>
          <a:solidFill>
            <a:srgbClr val="F1C4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37760" y="3200400"/>
            <a:ext cx="1280160" cy="731520"/>
          </a:xfrm>
          <a:prstGeom prst="rect">
            <a:avLst/>
          </a:prstGeom>
          <a:solidFill>
            <a:srgbClr val="F1C4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3200400"/>
            <a:ext cx="1280160" cy="731520"/>
          </a:xfrm>
          <a:prstGeom prst="rect">
            <a:avLst/>
          </a:prstGeom>
          <a:solidFill>
            <a:srgbClr val="E67E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393192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97280" y="3931920"/>
            <a:ext cx="12801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77440" y="3931920"/>
            <a:ext cx="12801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0" y="3931920"/>
            <a:ext cx="12801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37760" y="3931920"/>
            <a:ext cx="1280160" cy="731520"/>
          </a:xfrm>
          <a:prstGeom prst="rect">
            <a:avLst/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0" y="3931920"/>
            <a:ext cx="1280160" cy="731520"/>
          </a:xfrm>
          <a:prstGeom prst="rect">
            <a:avLst/>
          </a:prstGeom>
          <a:solidFill>
            <a:srgbClr val="F1C40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35240" y="1005840"/>
            <a:ext cx="13716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35240" y="1005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≥15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635240" y="1691640"/>
            <a:ext cx="137160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35240" y="1691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10-14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35240" y="2377440"/>
            <a:ext cx="1371600" cy="50292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35240" y="2377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5-9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635240" y="3063240"/>
            <a:ext cx="137160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35240" y="3063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1-4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RISK ASSESSMENT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Article 28 — ICT Third-Party Risk Management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73152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(IaaS/PaaS)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391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· SOC 2 T2 · PCI DSS L1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37760" y="1508760"/>
            <a:ext cx="1097280" cy="64008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087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8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09360" y="1600200"/>
            <a:ext cx="118872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600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07568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80960" y="15544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47/50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680960" y="207568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score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514600"/>
            <a:ext cx="841248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514600"/>
            <a:ext cx="73152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6060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29718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2278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L1 · ISO 27001 · SOC 2 T2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37760" y="2697480"/>
            <a:ext cx="1097280" cy="64008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6974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8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309360" y="2788920"/>
            <a:ext cx="118872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788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326440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0" y="27432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45/50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680960" y="326440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score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703320"/>
            <a:ext cx="841248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703320"/>
            <a:ext cx="73152" cy="105156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7947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41605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Platform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4165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· SOC 2 T2 · ISO 27017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3886200"/>
            <a:ext cx="1097280" cy="64008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886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8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309360" y="3977640"/>
            <a:ext cx="1188720" cy="45720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09360" y="44531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Rating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680960" y="39319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36/50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680960" y="44531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score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POLICY STATUS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10 information security policies approved and active — May 2026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08760"/>
          <a:ext cx="7040880" cy="3419856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POL-001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Security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POL-002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Control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POL-003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&amp; Authentication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POL-004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Response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POL-005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Classification &amp; Handling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POL-006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Security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POL-007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Continuity &amp; DR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POL-008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Development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 Dev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POL-009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&amp; Personal Data Protection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POL-010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Vulnerability &amp; Patch Management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D3D"/>
          </a:solidFill>
          <a:ln w="12700">
            <a:solidFill>
              <a:srgbClr val="1F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RECOMMENDATIONS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is requested to note CyroPay's current security posture and approve the following actions: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7315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481328"/>
            <a:ext cx="192024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481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— 30 DAYS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60320" y="1371600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 emergency remediation of R001 (privileged access management) and R007 (MFA enforcement) — highest combined risk score with lowest implementation complexity.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841248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21408"/>
            <a:ext cx="73152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2231136"/>
            <a:ext cx="192024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2311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— 31 JULY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0" y="2121408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development and tabletop testing of a formal incident response plan (R005) to meet FCA SYSC 6 obligations and establish ICO breach notification procedures.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71216"/>
            <a:ext cx="841248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73152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" y="2980944"/>
            <a:ext cx="1920240" cy="3657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29809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— 31 JULY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0320" y="2871216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vulnerability scanning programme deployment with a 72-hour SLA for critical patches (R002) and prohibit live data use in test environments (R004).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621024"/>
            <a:ext cx="841248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621024"/>
            <a:ext cx="73152" cy="65836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" y="3730752"/>
            <a:ext cx="1920240" cy="3657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730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 — Q4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60320" y="3621024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an independent penetration test of all external-facing applications and AWS infrastructure to validate security posture ahead of ISO 27001 certification.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370832"/>
            <a:ext cx="8412480" cy="658368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370832"/>
            <a:ext cx="73152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" y="4480560"/>
            <a:ext cx="192024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4480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Q2 2027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560320" y="4370832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ISO/IEC 27001:2022 certification readiness following remediation of all Critical and High findings identified in this assessment.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3200400" cy="274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260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</a:t>
            </a: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Oluwagbemiga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Ibijura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Cybersecurity · University of Sunderland  |  Cisco Certified CyberOps Associate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samuelibijura@gmail.com  |  linkedin.com/in/samuel-o-ibijura-a1a993221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0" y="4480560"/>
            <a:ext cx="2103120" cy="4114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4480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908</Words>
  <Application>Microsoft Office PowerPoint</Application>
  <PresentationFormat>On-screen Show (16:9)</PresentationFormat>
  <Paragraphs>328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CyroPay Information Security Risk Briefing</dc:title>
  <dc:subject>PptxGenJS Presentation</dc:subject>
  <dc:creator>Samuel O. Ibijura</dc:creator>
  <cp:lastModifiedBy>D'REAL CYBERDON</cp:lastModifiedBy>
  <cp:revision>3</cp:revision>
  <dcterms:created xsi:type="dcterms:W3CDTF">2026-06-07T15:06:24Z</dcterms:created>
  <dcterms:modified xsi:type="dcterms:W3CDTF">2026-06-07T22:11:38Z</dcterms:modified>
</cp:coreProperties>
</file>